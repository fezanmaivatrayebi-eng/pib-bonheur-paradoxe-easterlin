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1" d="100"/>
          <a:sy n="61" d="100"/>
        </p:scale>
        <p:origin x="8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OLS (entre pays)</c:v>
                </c:pt>
              </c:strCache>
            </c:strRef>
          </c:tx>
          <c:spPr>
            <a:ln w="444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E2E"/>
                    </a:solidFill>
                    <a:latin typeface="Arial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0.97499999999999998</c:v>
                </c:pt>
                <c:pt idx="1">
                  <c:v>0.85799999999999998</c:v>
                </c:pt>
                <c:pt idx="2">
                  <c:v>0.44</c:v>
                </c:pt>
                <c:pt idx="3">
                  <c:v>0.66700000000000004</c:v>
                </c:pt>
                <c:pt idx="4">
                  <c:v>0.33800000000000002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AD-4BBA-AD86-BFA2AD2C11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Effets fixes (dans le temps)</c:v>
                </c:pt>
              </c:strCache>
            </c:strRef>
          </c:tx>
          <c:spPr>
            <a:ln w="44450" cap="flat">
              <a:solidFill>
                <a:srgbClr val="C9C9C9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9C9C9"/>
              </a:solidFill>
              <a:ln w="9525" cap="flat">
                <a:solidFill>
                  <a:srgbClr val="C9C9C9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E2E"/>
                    </a:solidFill>
                    <a:latin typeface="Arial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0.56299999999999994</c:v>
                </c:pt>
                <c:pt idx="1">
                  <c:v>0.29499999999999998</c:v>
                </c:pt>
                <c:pt idx="2">
                  <c:v>0.155</c:v>
                </c:pt>
                <c:pt idx="3">
                  <c:v>0.30499999999999999</c:v>
                </c:pt>
                <c:pt idx="4">
                  <c:v>-0.32600000000000001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AD-4BBA-AD86-BFA2AD2C11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-0.6"/>
        </c:scaling>
        <c:delete val="0"/>
        <c:axPos val="l"/>
        <c:majorGridlines>
          <c:spPr>
            <a:ln w="12700" cap="flat">
              <a:solidFill>
                <a:srgbClr val="E8EC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B"/>
                    </a:solidFill>
                    <a:latin typeface="Arial"/>
                  </a:defRPr>
                </a:pPr>
                <a:r>
                  <a:rPr lang="fr-FR" sz="1100" b="0" i="0" u="none" strike="noStrike">
                    <a:solidFill>
                      <a:srgbClr val="5B6B6B"/>
                    </a:solidFill>
                    <a:latin typeface="Arial"/>
                  </a:rPr>
                  <a:t>Coefficient log_pib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E2E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94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ET BONHEUR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paradoxe d'Easterlin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entre richesse et bonheur observé entre pays se retrouve-t-il dans le temps 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 panel — 23 pays, 2014–2022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× World Happiness Report  |  Stata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Formulé par l'économiste Richard Easterlin en 1974 : </a:t>
            </a:r>
            <a:r>
              <a:rPr lang="en-US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sein d'un même pays, l'enrichissement ne s'accompagne pas toujours d'une hausse durable du bonheur — alors qu'entre pays, les plus riches semblent, eux, plus heureux.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paradoxe d'Easterlin.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F7FA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DE RECHERCHE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3317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lien PIB–bonheur observé entre pays se retrouve-t-il dans le temps, au sein d'un même pays 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d'Easterlin — PIB et bonheur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méthodologie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81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23 pays, 2014–2022 (207 observations)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bases Banque mondiale et World Happiness Report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79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variables transformées en logarithme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815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taux de chômage et taux d'homicide, pour corriger leur forte asymétrie (skewness)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76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multicolinéarité avant modélisation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1788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(pwcorr) puis VIF, pour écarter les résultats instables ou trompeurs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737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angles de lecture complémentaires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760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 OLS (entre pays) et modèle à effets fixes (dans le temps)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d'Easterlin — PIB et bonheur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angles de lecture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013A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les pays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les pays entre eux, à un instant donné.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à :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pays riches sont-ils plus heureux que les pays pauvres ? »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7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FIXES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le temps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chaque pays individuellement, année après année (2014–2022).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à :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023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pays qui s'enrichit devient-il plus heureux ? »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d'Easterlin — PIB et bonheur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paradoxe en un graphique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l'effet du PIB (log) sur le bonheur, modèle après modèle</a:t>
            </a:r>
            <a:endParaRPr lang="en-US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863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69164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7FA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15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1031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significatif — de p&lt;0.001 (M0) à p=0.040 (M4b)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0" y="329184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013A4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154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FIXES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3703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significatif — quel que soit le modèle, et devient négatif en M4b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à échantillon fixe (16 pays constants) — la trajectoire ne vient pas d'un changement d'échantillon entre modèles.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d'Easterlin — PIB et bonheur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signal robuste : la gouvernance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de la corruption </a:t>
            </a:r>
            <a:r>
              <a:rPr lang="en-US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seule variable significative et forte dans les deux approches — contrairement au PIB, aux inégalités ou à la criminalité, son effet semble réel jusque dans le temps.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108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— entre pays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C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— effet le plus fort du modèle complet (M4b)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265176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F7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108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0.829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fixes — dans le temps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754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0.019 — </a:t>
            </a:r>
            <a:r>
              <a:rPr lang="en-US" sz="1600" dirty="0" err="1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</a:t>
            </a: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 significative </a:t>
            </a:r>
            <a:r>
              <a:rPr lang="en-US" sz="1600" dirty="0" err="1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panel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d'Easterlin — PIB et bonheur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à garder en tête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5623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5049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variable selon les modèles (23 pays en M0, 16 en M4b) — robustesse vérifiée sur échantillon fixe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81635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2374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L'indice de Gini et le taux d'homicide restent corrélés entre eux (r=0.81)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77647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48386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d'imputation : les données manquantes sont exclues, jamais comblées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73659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44398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R² n'est pas comparable tel quel entre OLS (classique) et effets fixes (« within »)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d'Easterlin — PIB et bonheur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70903" y="-21488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pays, le PIB reste un déterminant fort du bonheur.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842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toujours significatif en coupe transversale (OLS).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06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dans le temps, cet effet disparaît.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35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significatif en panel (effets fixes) — le paradoxe d'Easterlin se confirme, dans sa version la plus stricte.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est le seul levier robuste.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87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de la corruption est significatif à la fois entre pays et dans le temps.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 ·  Fezan — LinkedIn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626</Words>
  <Application>Microsoft Office PowerPoint</Application>
  <PresentationFormat>Grand écran</PresentationFormat>
  <Paragraphs>80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TRAYE BI FEZAN MAIVA</cp:lastModifiedBy>
  <cp:revision>5</cp:revision>
  <dcterms:created xsi:type="dcterms:W3CDTF">2026-09-10T14:30:52Z</dcterms:created>
  <dcterms:modified xsi:type="dcterms:W3CDTF">2026-09-10T16:32:07Z</dcterms:modified>
</cp:coreProperties>
</file>